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0FB"/>
    <a:srgbClr val="0A2541"/>
    <a:srgbClr val="FFCC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96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03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3291840" cy="3291840"/>
          </a:xfrm>
          <a:prstGeom prst="ellipse">
            <a:avLst/>
          </a:prstGeom>
          <a:ln w="12700">
            <a:solidFill>
              <a:srgbClr val="FFCC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9784080" y="4937760"/>
            <a:ext cx="1828800" cy="1828800"/>
          </a:xfrm>
          <a:prstGeom prst="ellipse">
            <a:avLst/>
          </a:prstGeom>
          <a:ln w="12700">
            <a:solidFill>
              <a:srgbClr val="FFCC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10378440" y="5532120"/>
            <a:ext cx="640080" cy="640080"/>
          </a:xfrm>
          <a:prstGeom prst="ellipse">
            <a:avLst/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3"/>
          <p:cNvSpPr/>
          <p:nvPr/>
        </p:nvSpPr>
        <p:spPr>
          <a:xfrm>
            <a:off x="548640" y="1412631"/>
            <a:ext cx="5981114" cy="2233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Satellite Flight Operator Challenge Project</a:t>
            </a:r>
            <a:endParaRPr lang="en-US" sz="3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39" y="3030415"/>
            <a:ext cx="5031545" cy="196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Flight Operational Contact Plan · Algorithm </a:t>
            </a:r>
            <a:br>
              <a:rPr lang="en-US" sz="2400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</a:br>
            <a:r>
              <a:rPr lang="en-US" sz="2400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Python Automation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C9D6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Anastasia Maria Giannakopoulou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C9D6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 August 2026</a:t>
            </a:r>
            <a:endParaRPr lang="en-US" dirty="0"/>
          </a:p>
        </p:txBody>
      </p:sp>
      <p:pic>
        <p:nvPicPr>
          <p:cNvPr id="10" name="Google Shape;91;p18">
            <a:extLst>
              <a:ext uri="{FF2B5EF4-FFF2-40B4-BE49-F238E27FC236}">
                <a16:creationId xmlns:a16="http://schemas.microsoft.com/office/drawing/2014/main" id="{374E7BB8-0A96-5F7A-1B88-F965B9ECC4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702" y="313006"/>
            <a:ext cx="2688964" cy="260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84048"/>
            <a:ext cx="1051560" cy="102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10-minute ground station contact  ·  Part 1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Shape 3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828800" y="22219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Check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6791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telemetry: mode, power, thermal, AOCS, COMMS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96596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1" name="Shape 8"/>
          <p:cNvSpPr/>
          <p:nvPr/>
        </p:nvSpPr>
        <p:spPr>
          <a:xfrm>
            <a:off x="6355080" y="2240280"/>
            <a:ext cx="822960" cy="822960"/>
          </a:xfrm>
          <a:prstGeom prst="ellipse">
            <a:avLst/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2" name="Text 9"/>
          <p:cNvSpPr/>
          <p:nvPr/>
        </p:nvSpPr>
        <p:spPr>
          <a:xfrm>
            <a:off x="635508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60920" y="22219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Payload Downlink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60920" y="26791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Priority-1 mission data transfer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6" name="Shape 13"/>
          <p:cNvSpPr/>
          <p:nvPr/>
        </p:nvSpPr>
        <p:spPr>
          <a:xfrm>
            <a:off x="822960" y="4023360"/>
            <a:ext cx="822960" cy="822960"/>
          </a:xfrm>
          <a:prstGeom prst="ellipse">
            <a:avLst/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7" name="Text 14"/>
          <p:cNvSpPr/>
          <p:nvPr/>
        </p:nvSpPr>
        <p:spPr>
          <a:xfrm>
            <a:off x="82296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828800" y="40050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Downlink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28800" y="44622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Priority-2 housekeeping data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80760" y="374904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1" name="Shape 18"/>
          <p:cNvSpPr/>
          <p:nvPr/>
        </p:nvSpPr>
        <p:spPr>
          <a:xfrm>
            <a:off x="6355080" y="4023360"/>
            <a:ext cx="822960" cy="822960"/>
          </a:xfrm>
          <a:prstGeom prst="ellipse">
            <a:avLst/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2" name="Text 19"/>
          <p:cNvSpPr/>
          <p:nvPr/>
        </p:nvSpPr>
        <p:spPr>
          <a:xfrm>
            <a:off x="635508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360920" y="40050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COMMS Reconfiguration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60920" y="44622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config applied via subsystem restart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6" name="Text 23"/>
          <p:cNvSpPr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Fixed parameters:  50 kbps up/down  ·  RX permanently ON  ·  TX commanded ON  ·  full-duplex link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84048"/>
            <a:ext cx="1051560" cy="102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 Design Principles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Guiding rules applied throughout the procedure  ·  FOCP Section 8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020824"/>
            <a:ext cx="566928" cy="566928"/>
          </a:xfrm>
          <a:prstGeom prst="ellipse">
            <a:avLst/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3"/>
          <p:cNvSpPr/>
          <p:nvPr/>
        </p:nvSpPr>
        <p:spPr>
          <a:xfrm>
            <a:off x="548640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19476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Spacecraft safety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26480" y="194767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safe, understood state always outweighs completing the plan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54864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27340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before proceeding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26480" y="273405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the expected result before starting the next dependent activity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593592"/>
            <a:ext cx="566928" cy="566928"/>
          </a:xfrm>
          <a:prstGeom prst="ellipse">
            <a:avLst/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Text 11"/>
          <p:cNvSpPr/>
          <p:nvPr/>
        </p:nvSpPr>
        <p:spPr>
          <a:xfrm>
            <a:off x="548640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7160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 communications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26480" y="35204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COMMS restart only after configuration upload is verified and time allows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8" name="Text 15"/>
          <p:cNvSpPr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43068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 contact time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26480" y="430682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Remaining time is reassessed before any retry or non-essential activity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2" name="Text 19"/>
          <p:cNvSpPr/>
          <p:nvPr/>
        </p:nvSpPr>
        <p:spPr>
          <a:xfrm>
            <a:off x="54864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50932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end state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126480" y="5093208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Spacecraft reaches LOS in a documented, verified configuration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84048"/>
            <a:ext cx="1051560" cy="102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Budget – 10 Minute Contact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 7 - Proposed Contact-Time Allocation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057400"/>
            <a:ext cx="1109442" cy="777240"/>
          </a:xfrm>
          <a:prstGeom prst="rect">
            <a:avLst/>
          </a:prstGeom>
          <a:solidFill>
            <a:srgbClr val="0A25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1109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658082" y="2057400"/>
            <a:ext cx="4437766" cy="777240"/>
          </a:xfrm>
          <a:prstGeom prst="rect">
            <a:avLst/>
          </a:prstGeom>
          <a:solidFill>
            <a:srgbClr val="FFCC5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8" name="Text 5"/>
          <p:cNvSpPr/>
          <p:nvPr/>
        </p:nvSpPr>
        <p:spPr>
          <a:xfrm>
            <a:off x="1658082" y="2057400"/>
            <a:ext cx="44377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5848" y="2057400"/>
            <a:ext cx="1479255" cy="777240"/>
          </a:xfrm>
          <a:prstGeom prst="rect">
            <a:avLst/>
          </a:prstGeom>
          <a:solidFill>
            <a:srgbClr val="0A25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7"/>
          <p:cNvSpPr/>
          <p:nvPr/>
        </p:nvSpPr>
        <p:spPr>
          <a:xfrm>
            <a:off x="6095848" y="2057400"/>
            <a:ext cx="1479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575103" y="2057400"/>
            <a:ext cx="554721" cy="777240"/>
          </a:xfrm>
          <a:prstGeom prst="rect">
            <a:avLst/>
          </a:prstGeom>
          <a:solidFill>
            <a:srgbClr val="FFCC5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9"/>
          <p:cNvSpPr/>
          <p:nvPr/>
        </p:nvSpPr>
        <p:spPr>
          <a:xfrm>
            <a:off x="7575103" y="2057400"/>
            <a:ext cx="5547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129824" y="2057400"/>
            <a:ext cx="1664162" cy="777240"/>
          </a:xfrm>
          <a:prstGeom prst="rect">
            <a:avLst/>
          </a:prstGeom>
          <a:solidFill>
            <a:srgbClr val="0A25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Text 11"/>
          <p:cNvSpPr/>
          <p:nvPr/>
        </p:nvSpPr>
        <p:spPr>
          <a:xfrm>
            <a:off x="8129824" y="2057400"/>
            <a:ext cx="16641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793986" y="2057400"/>
            <a:ext cx="739628" cy="777240"/>
          </a:xfrm>
          <a:prstGeom prst="rect">
            <a:avLst/>
          </a:prstGeom>
          <a:solidFill>
            <a:srgbClr val="FFCC5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Text 13"/>
          <p:cNvSpPr/>
          <p:nvPr/>
        </p:nvSpPr>
        <p:spPr>
          <a:xfrm>
            <a:off x="9793986" y="2057400"/>
            <a:ext cx="739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533614" y="2057400"/>
            <a:ext cx="739628" cy="777240"/>
          </a:xfrm>
          <a:prstGeom prst="rect">
            <a:avLst/>
          </a:prstGeom>
          <a:solidFill>
            <a:srgbClr val="0A254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8" name="Text 15"/>
          <p:cNvSpPr/>
          <p:nvPr/>
        </p:nvSpPr>
        <p:spPr>
          <a:xfrm>
            <a:off x="10533614" y="2057400"/>
            <a:ext cx="7396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1273241" y="2057400"/>
            <a:ext cx="369814" cy="777240"/>
          </a:xfrm>
          <a:prstGeom prst="rect">
            <a:avLst/>
          </a:prstGeom>
          <a:solidFill>
            <a:srgbClr val="D8DEE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Text 17"/>
          <p:cNvSpPr/>
          <p:nvPr/>
        </p:nvSpPr>
        <p:spPr>
          <a:xfrm>
            <a:off x="11273241" y="2057400"/>
            <a:ext cx="3698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24612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2" name="Text 19"/>
          <p:cNvSpPr/>
          <p:nvPr/>
        </p:nvSpPr>
        <p:spPr>
          <a:xfrm>
            <a:off x="713232" y="3337560"/>
            <a:ext cx="227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Health Check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13232" y="372160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0:00–1:00   ·   60s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379394" y="324612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5" name="Text 22"/>
          <p:cNvSpPr/>
          <p:nvPr/>
        </p:nvSpPr>
        <p:spPr>
          <a:xfrm>
            <a:off x="3499338" y="3337560"/>
            <a:ext cx="2482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Payload Downlink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543986" y="372160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1:00–5:00   ·   240s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10148" y="324612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8" name="Text 25"/>
          <p:cNvSpPr/>
          <p:nvPr/>
        </p:nvSpPr>
        <p:spPr>
          <a:xfrm>
            <a:off x="6307015" y="333756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Platform Downlink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374740" y="372160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5:00–6:20   ·   80s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040901" y="324612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1" name="Text 28"/>
          <p:cNvSpPr/>
          <p:nvPr/>
        </p:nvSpPr>
        <p:spPr>
          <a:xfrm>
            <a:off x="9205493" y="3337560"/>
            <a:ext cx="227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Config Upload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9205493" y="372160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6:20–6:50   ·   30s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48640" y="429768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4" name="Text 31"/>
          <p:cNvSpPr/>
          <p:nvPr/>
        </p:nvSpPr>
        <p:spPr>
          <a:xfrm>
            <a:off x="713232" y="4389120"/>
            <a:ext cx="227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COMMS Restart</a:t>
            </a: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13232" y="477316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6:50–8:20   ·   90s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3379394" y="429768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7" name="Text 34"/>
          <p:cNvSpPr/>
          <p:nvPr/>
        </p:nvSpPr>
        <p:spPr>
          <a:xfrm>
            <a:off x="3543986" y="4389120"/>
            <a:ext cx="227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TX Modulation</a:t>
            </a: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543986" y="477316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8:20–9:00   ·   40s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10148" y="429768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0" name="Text 37"/>
          <p:cNvSpPr/>
          <p:nvPr/>
        </p:nvSpPr>
        <p:spPr>
          <a:xfrm>
            <a:off x="6374740" y="4389120"/>
            <a:ext cx="227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Final Verification</a:t>
            </a: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374740" y="477316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9:00–9:40   ·   40s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9040901" y="4297680"/>
            <a:ext cx="2602154" cy="868680"/>
          </a:xfrm>
          <a:prstGeom prst="roundRect">
            <a:avLst>
              <a:gd name="adj" fmla="val 7368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3" name="Text 40"/>
          <p:cNvSpPr/>
          <p:nvPr/>
        </p:nvSpPr>
        <p:spPr>
          <a:xfrm>
            <a:off x="9085385" y="4389120"/>
            <a:ext cx="2557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 Contingency Margin</a:t>
            </a:r>
            <a:endParaRPr lang="en-US" sz="1700" dirty="0">
              <a:solidFill>
                <a:srgbClr val="FFCC55"/>
              </a:solidFill>
            </a:endParaRPr>
          </a:p>
        </p:txBody>
      </p:sp>
      <p:sp>
        <p:nvSpPr>
          <p:cNvPr id="44" name="Text 41"/>
          <p:cNvSpPr/>
          <p:nvPr/>
        </p:nvSpPr>
        <p:spPr>
          <a:xfrm>
            <a:off x="9205493" y="4773168"/>
            <a:ext cx="227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9:40–10:00   ·   20s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45" name="Text 42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Total: 600 s (10 min),  20 s contingency margin preserved for retries or additional verification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84048"/>
            <a:ext cx="1051560" cy="102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 Procedure - Flow Logic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Sequential activities, each gated by a </a:t>
            </a:r>
            <a:r>
              <a:rPr lang="en-US" sz="2000" b="1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 / no-go </a:t>
            </a:r>
            <a:r>
              <a:rPr lang="en-US" sz="20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D8DEE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AOS - Contact Start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23360" y="2203704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8" name="Shape 5"/>
          <p:cNvSpPr/>
          <p:nvPr/>
        </p:nvSpPr>
        <p:spPr>
          <a:xfrm>
            <a:off x="548640" y="2304288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Initial Health Check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23360" y="2724912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8"/>
          <p:cNvSpPr/>
          <p:nvPr/>
        </p:nvSpPr>
        <p:spPr>
          <a:xfrm>
            <a:off x="548640" y="2825496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2" name="Text 9"/>
          <p:cNvSpPr/>
          <p:nvPr/>
        </p:nvSpPr>
        <p:spPr>
          <a:xfrm>
            <a:off x="777240" y="2825496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Payload Downlink  (P1)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23360" y="3246120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14" name="Shape 11"/>
          <p:cNvSpPr/>
          <p:nvPr/>
        </p:nvSpPr>
        <p:spPr>
          <a:xfrm>
            <a:off x="548640" y="3346704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5" name="Text 12"/>
          <p:cNvSpPr/>
          <p:nvPr/>
        </p:nvSpPr>
        <p:spPr>
          <a:xfrm>
            <a:off x="777240" y="3346704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Platform Downlink  (P2)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23360" y="3767328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17" name="Shape 14"/>
          <p:cNvSpPr/>
          <p:nvPr/>
        </p:nvSpPr>
        <p:spPr>
          <a:xfrm>
            <a:off x="548640" y="3867912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8" name="Text 15"/>
          <p:cNvSpPr/>
          <p:nvPr/>
        </p:nvSpPr>
        <p:spPr>
          <a:xfrm>
            <a:off x="777240" y="386791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Configuration Upload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023360" y="4288536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20" name="Shape 17"/>
          <p:cNvSpPr/>
          <p:nvPr/>
        </p:nvSpPr>
        <p:spPr>
          <a:xfrm>
            <a:off x="548640" y="4389120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1" name="Text 18"/>
          <p:cNvSpPr/>
          <p:nvPr/>
        </p:nvSpPr>
        <p:spPr>
          <a:xfrm>
            <a:off x="777240" y="4389120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Restart COMMS Subsystem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023360" y="4809744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23" name="Shape 20"/>
          <p:cNvSpPr/>
          <p:nvPr/>
        </p:nvSpPr>
        <p:spPr>
          <a:xfrm>
            <a:off x="548640" y="4910328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4" name="Text 21"/>
          <p:cNvSpPr/>
          <p:nvPr/>
        </p:nvSpPr>
        <p:spPr>
          <a:xfrm>
            <a:off x="777240" y="4910328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Restore TX Modulation</a:t>
            </a: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023360" y="5330952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26" name="Shape 23"/>
          <p:cNvSpPr/>
          <p:nvPr/>
        </p:nvSpPr>
        <p:spPr>
          <a:xfrm>
            <a:off x="548640" y="5431536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7" name="Text 24"/>
          <p:cNvSpPr/>
          <p:nvPr/>
        </p:nvSpPr>
        <p:spPr>
          <a:xfrm>
            <a:off x="777240" y="5431536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Final Verification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23360" y="5852160"/>
            <a:ext cx="0" cy="100584"/>
          </a:xfrm>
          <a:prstGeom prst="line">
            <a:avLst/>
          </a:prstGeom>
          <a:noFill/>
          <a:ln w="15875">
            <a:solidFill>
              <a:srgbClr val="0A2541"/>
            </a:solidFill>
            <a:prstDash val="solid"/>
            <a:tailEnd type="triangle"/>
          </a:ln>
        </p:spPr>
        <p:txBody>
          <a:bodyPr/>
          <a:lstStyle/>
          <a:p>
            <a:endParaRPr lang="el-GR"/>
          </a:p>
        </p:txBody>
      </p:sp>
      <p:sp>
        <p:nvSpPr>
          <p:cNvPr id="29" name="Shape 26"/>
          <p:cNvSpPr/>
          <p:nvPr/>
        </p:nvSpPr>
        <p:spPr>
          <a:xfrm>
            <a:off x="548640" y="5952744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D8DEE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0" name="Text 27"/>
          <p:cNvSpPr/>
          <p:nvPr/>
        </p:nvSpPr>
        <p:spPr>
          <a:xfrm>
            <a:off x="777240" y="5952744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- Contact End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7955278" y="1594338"/>
            <a:ext cx="3687775" cy="4760742"/>
          </a:xfrm>
          <a:prstGeom prst="roundRect">
            <a:avLst>
              <a:gd name="adj" fmla="val 2480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2" name="Text 29"/>
          <p:cNvSpPr/>
          <p:nvPr/>
        </p:nvSpPr>
        <p:spPr>
          <a:xfrm>
            <a:off x="8618220" y="1642753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 logic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8053754" y="2093977"/>
            <a:ext cx="3589301" cy="401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activity is followed by a success check before the next step begins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failure: verify link / status, then retry only if time and safety allow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not recoverable: defer or abort the activity and protect the remaining plan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unsafe spacecraft state ends non-essential ops and moves straight to End-of-Contact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A97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annotated diagram - 7 decision points and Recoveries A;F - provided as a separate deliverable.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84048"/>
            <a:ext cx="1051560" cy="102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Automation &amp; Validation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script that runs the same logic as the Contact Plan and flow diagram – Part 2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Tracks simulated contact time against the Table 7 budget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Applies the same go / no-go decision logic at every step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selectable failure scenarios exercise every recovery path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Retries only when time and safety allow, else defers or aborts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Produces an operator-style action / command / result log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571500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2C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7" name="Text 4"/>
          <p:cNvSpPr/>
          <p:nvPr/>
        </p:nvSpPr>
        <p:spPr>
          <a:xfrm>
            <a:off x="731520" y="570562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2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SCENARIO = "normal" | "health_fail" | "payload_fail" | "platform_fail" | "config_fail" | "restart_fail" | "tx_fail"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5847" y="1710397"/>
            <a:ext cx="5813474" cy="4608342"/>
          </a:xfrm>
          <a:prstGeom prst="roundRect">
            <a:avLst>
              <a:gd name="adj" fmla="val 2151"/>
            </a:avLst>
          </a:prstGeom>
          <a:solidFill>
            <a:srgbClr val="0A2541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Text 6"/>
          <p:cNvSpPr/>
          <p:nvPr/>
        </p:nvSpPr>
        <p:spPr>
          <a:xfrm>
            <a:off x="6536788" y="1737360"/>
            <a:ext cx="501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run “normal” scenario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78727" y="2103120"/>
            <a:ext cx="5532273" cy="4080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 starts at AOS. TX_ON commanded.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1 - Health check: within expected conditions.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2 - Payload transfer: completed successfully.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3 - Platform transfer: completed successfully.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4 - Configuration upload: verified successfully.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5 - COMMS restart: recovered as expected.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6 - TX Modulation: restored, downlink confirmed.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7 - Final verification: state recorded.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 of contact: 20 s contingency margin unused.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ln w="12700">
            <a:solidFill>
              <a:srgbClr val="FFCC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pic>
        <p:nvPicPr>
          <p:cNvPr id="3" name="Image 0" descr="/home/claude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457200"/>
            <a:ext cx="1463040" cy="1432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9875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required activities fit the 10-minute window, with a 20 s margin preserved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 Plan, flow diagram and script share one consistent time budget (Table 7)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 validated against 6 independent failure scenarios</a:t>
            </a:r>
            <a:endParaRPr lang="en-US" sz="18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reflects Open Cosmos operating principles: safety, verification, protected communications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C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  Questions?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5806440"/>
            <a:ext cx="114624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Anastasia Maria Giannakopoulou   ·   Satellite Flight Operator Challenge Project   ·   August 2026</a:t>
            </a:r>
            <a:endParaRPr lang="en-US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35D7253-2F37-682D-94E8-17C93EFAF826}"/>
              </a:ext>
            </a:extLst>
          </p:cNvPr>
          <p:cNvSpPr/>
          <p:nvPr/>
        </p:nvSpPr>
        <p:spPr>
          <a:xfrm>
            <a:off x="-407055" y="-640080"/>
            <a:ext cx="1828800" cy="1828800"/>
          </a:xfrm>
          <a:prstGeom prst="ellipse">
            <a:avLst/>
          </a:prstGeom>
          <a:ln w="12700">
            <a:solidFill>
              <a:srgbClr val="FFCC5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5E03878F-9AD4-F5BA-E6B7-3602643DBD97}"/>
              </a:ext>
            </a:extLst>
          </p:cNvPr>
          <p:cNvSpPr/>
          <p:nvPr/>
        </p:nvSpPr>
        <p:spPr>
          <a:xfrm>
            <a:off x="98814" y="-123036"/>
            <a:ext cx="640080" cy="640080"/>
          </a:xfrm>
          <a:prstGeom prst="ellipse">
            <a:avLst/>
          </a:prstGeom>
          <a:solidFill>
            <a:srgbClr val="FFCC55"/>
          </a:solidFill>
          <a:ln/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680</Words>
  <Application>Microsoft Office PowerPoint</Application>
  <PresentationFormat>Ευρεία οθόνη</PresentationFormat>
  <Paragraphs>112</Paragraphs>
  <Slides>7</Slides>
  <Notes>7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7</vt:i4>
      </vt:variant>
    </vt:vector>
  </HeadingPairs>
  <TitlesOfParts>
    <vt:vector size="10" baseType="lpstr">
      <vt:lpstr>Arial</vt:lpstr>
      <vt:lpstr>Poppins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nick bill</cp:lastModifiedBy>
  <cp:revision>5</cp:revision>
  <dcterms:created xsi:type="dcterms:W3CDTF">2026-08-15T20:38:28Z</dcterms:created>
  <dcterms:modified xsi:type="dcterms:W3CDTF">2026-08-15T23:28:54Z</dcterms:modified>
</cp:coreProperties>
</file>